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专利检索智能体系统架构图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617720" y="146304"/>
            <a:ext cx="128016" cy="128016"/>
          </a:xfrm>
          <a:prstGeom prst="rect">
            <a:avLst>
              <a:gd name="adj" fmla="val 14286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82312" y="914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49240" y="210312"/>
            <a:ext cx="91440" cy="0"/>
          </a:xfrm>
          <a:prstGeom prst="line">
            <a:avLst/>
          </a:prstGeom>
          <a:noFill/>
          <a:ln w="31750">
            <a:solidFill>
              <a:srgbClr val="EF6C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5413248" y="169164"/>
            <a:ext cx="54864" cy="82296"/>
          </a:xfrm>
          <a:prstGeom prst="rtTriangle">
            <a:avLst/>
          </a:prstGeom>
          <a:solidFill>
            <a:srgbClr val="EF6C00"/>
          </a:solidFill>
          <a:ln/>
        </p:spPr>
      </p:sp>
      <p:sp>
        <p:nvSpPr>
          <p:cNvPr id="9" name="Text 7"/>
          <p:cNvSpPr/>
          <p:nvPr/>
        </p:nvSpPr>
        <p:spPr>
          <a:xfrm>
            <a:off x="5513832" y="914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关键数据流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80760" y="146304"/>
            <a:ext cx="128016" cy="128016"/>
          </a:xfrm>
          <a:prstGeom prst="rect">
            <a:avLst>
              <a:gd name="adj" fmla="val 14286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5352" y="914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存储服务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812280" y="146304"/>
            <a:ext cx="128016" cy="128016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76872" y="914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外部依赖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543800" y="210312"/>
            <a:ext cx="32004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4948" y="210312"/>
            <a:ext cx="32004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210312"/>
            <a:ext cx="32004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08392" y="914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实时订阅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75320" y="210312"/>
            <a:ext cx="128016" cy="0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9912" y="914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辅助连线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676656"/>
            <a:ext cx="54864" cy="201168"/>
          </a:xfrm>
          <a:prstGeom prst="rect">
            <a:avLst>
              <a:gd name="adj" fmla="val 33333"/>
            </a:avLst>
          </a:prstGeom>
          <a:solidFill>
            <a:srgbClr val="0D47A1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640080"/>
            <a:ext cx="601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用户与表现层 · 用户 + Next.js 前端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914400"/>
            <a:ext cx="6016752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932688"/>
            <a:ext cx="1417320" cy="630936"/>
          </a:xfrm>
          <a:prstGeom prst="roundRect">
            <a:avLst>
              <a:gd name="adj" fmla="val 8696"/>
            </a:avLst>
          </a:prstGeom>
          <a:solidFill>
            <a:srgbClr val="FFE0B2"/>
          </a:solidFill>
          <a:ln w="19050">
            <a:solidFill>
              <a:srgbClr val="EF6C0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82396" y="969264"/>
            <a:ext cx="201168" cy="201168"/>
          </a:xfrm>
          <a:prstGeom prst="ellipse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" y="955548"/>
            <a:ext cx="100584" cy="118872"/>
          </a:xfrm>
          <a:prstGeom prst="ellipse">
            <a:avLst/>
          </a:prstGeom>
          <a:solidFill>
            <a:srgbClr val="FFE0B2"/>
          </a:solidFill>
          <a:ln/>
        </p:spPr>
      </p:sp>
      <p:sp>
        <p:nvSpPr>
          <p:cNvPr id="26" name="Shape 24"/>
          <p:cNvSpPr/>
          <p:nvPr/>
        </p:nvSpPr>
        <p:spPr>
          <a:xfrm>
            <a:off x="836676" y="1152144"/>
            <a:ext cx="292608" cy="164592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131673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1472184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上传专利 · 配置检索 · 查看报告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1783080" y="932688"/>
            <a:ext cx="1417320" cy="630936"/>
          </a:xfrm>
          <a:prstGeom prst="roundRect">
            <a:avLst>
              <a:gd name="adj" fmla="val 8696"/>
            </a:avLst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783080" y="9692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步骤一 · 上传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20240" y="1225296"/>
            <a:ext cx="1143000" cy="0"/>
          </a:xfrm>
          <a:prstGeom prst="line">
            <a:avLst/>
          </a:prstGeom>
          <a:noFill/>
          <a:ln w="635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56232" y="1243584"/>
            <a:ext cx="1271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选模型/策略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上传专利文件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932688"/>
            <a:ext cx="1417320" cy="630936"/>
          </a:xfrm>
          <a:prstGeom prst="roundRect">
            <a:avLst>
              <a:gd name="adj" fmla="val 8696"/>
            </a:avLst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91840" y="9692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步骤二 · 配置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29000" y="1225296"/>
            <a:ext cx="1143000" cy="0"/>
          </a:xfrm>
          <a:prstGeom prst="line">
            <a:avLst/>
          </a:prstGeom>
          <a:noFill/>
          <a:ln w="635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64992" y="1243584"/>
            <a:ext cx="1271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x 策略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报告模型选择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932688"/>
            <a:ext cx="1417320" cy="630936"/>
          </a:xfrm>
          <a:prstGeom prst="roundRect">
            <a:avLst>
              <a:gd name="adj" fmla="val 8696"/>
            </a:avLst>
          </a:prstGeom>
          <a:solidFill>
            <a:srgbClr val="FFE0B2"/>
          </a:solidFill>
          <a:ln w="19050">
            <a:solidFill>
              <a:srgbClr val="EF6C0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00600" y="9692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步骤三 · 报告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37760" y="1225296"/>
            <a:ext cx="1143000" cy="0"/>
          </a:xfrm>
          <a:prstGeom prst="line">
            <a:avLst/>
          </a:prstGeom>
          <a:noFill/>
          <a:ln w="6350">
            <a:solidFill>
              <a:srgbClr val="EF6C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1243584"/>
            <a:ext cx="1271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实时进度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报告查看与导出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1709928"/>
            <a:ext cx="54864" cy="201168"/>
          </a:xfrm>
          <a:prstGeom prst="rect">
            <a:avLst>
              <a:gd name="adj" fmla="val 33333"/>
            </a:avLst>
          </a:prstGeom>
          <a:solidFill>
            <a:srgbClr val="0D47A1"/>
          </a:solidFill>
          <a:ln/>
        </p:spPr>
      </p:sp>
      <p:sp>
        <p:nvSpPr>
          <p:cNvPr id="42" name="Text 40"/>
          <p:cNvSpPr/>
          <p:nvPr/>
        </p:nvSpPr>
        <p:spPr>
          <a:xfrm>
            <a:off x="384048" y="1673352"/>
            <a:ext cx="601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 · API 路由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84048" y="1947672"/>
            <a:ext cx="6016752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1965960"/>
            <a:ext cx="828185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1965960"/>
            <a:ext cx="82818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文档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157369" y="1965960"/>
            <a:ext cx="828185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57369" y="1965960"/>
            <a:ext cx="82818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任务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040418" y="1965960"/>
            <a:ext cx="828185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40418" y="1965960"/>
            <a:ext cx="82818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队列状态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923467" y="1965960"/>
            <a:ext cx="828185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23467" y="1965960"/>
            <a:ext cx="82818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心跳检测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806517" y="1965960"/>
            <a:ext cx="828185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06517" y="1965960"/>
            <a:ext cx="82818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模型配置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89566" y="1965960"/>
            <a:ext cx="828185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89566" y="1965960"/>
            <a:ext cx="82818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策略配置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572615" y="1965960"/>
            <a:ext cx="828185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72615" y="1965960"/>
            <a:ext cx="82818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报告接口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74320" y="2258568"/>
            <a:ext cx="54864" cy="201168"/>
          </a:xfrm>
          <a:prstGeom prst="rect">
            <a:avLst>
              <a:gd name="adj" fmla="val 33333"/>
            </a:avLst>
          </a:prstGeom>
          <a:solidFill>
            <a:srgbClr val="0D47A1"/>
          </a:solidFill>
          <a:ln/>
        </p:spPr>
      </p:sp>
      <p:sp>
        <p:nvSpPr>
          <p:cNvPr id="59" name="Text 57"/>
          <p:cNvSpPr/>
          <p:nvPr/>
        </p:nvSpPr>
        <p:spPr>
          <a:xfrm>
            <a:off x="384048" y="2221992"/>
            <a:ext cx="601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队列与 AI 层 · Worker 处理进程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84048" y="2496312"/>
            <a:ext cx="6016752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4320" y="2514600"/>
            <a:ext cx="1950720" cy="274320"/>
          </a:xfrm>
          <a:prstGeom prst="roundRect">
            <a:avLst>
              <a:gd name="adj" fmla="val 13333"/>
            </a:avLst>
          </a:prstGeom>
          <a:solidFill>
            <a:srgbClr val="0D47A1"/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2514600"/>
            <a:ext cx="195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pg-boss 任务队列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74320" y="2843784"/>
            <a:ext cx="1950720" cy="222504"/>
          </a:xfrm>
          <a:prstGeom prst="roundRect">
            <a:avLst>
              <a:gd name="adj" fmla="val 16438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2862072"/>
            <a:ext cx="1950720" cy="11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parse-job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274320" y="2955036"/>
            <a:ext cx="1950720" cy="9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文档解析任务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74320" y="3121152"/>
            <a:ext cx="1950720" cy="222504"/>
          </a:xfrm>
          <a:prstGeom prst="roundRect">
            <a:avLst>
              <a:gd name="adj" fmla="val 16438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3139440"/>
            <a:ext cx="1950720" cy="11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search-job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74320" y="3232404"/>
            <a:ext cx="1950720" cy="9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检索任务 (笛卡尔积展开)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74320" y="3398520"/>
            <a:ext cx="1950720" cy="222504"/>
          </a:xfrm>
          <a:prstGeom prst="roundRect">
            <a:avLst>
              <a:gd name="adj" fmla="val 16438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4320" y="3416808"/>
            <a:ext cx="1950720" cy="11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 任务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274320" y="3509772"/>
            <a:ext cx="1950720" cy="9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报告生成任务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362200" y="2514600"/>
            <a:ext cx="1950720" cy="274320"/>
          </a:xfrm>
          <a:prstGeom prst="roundRect">
            <a:avLst>
              <a:gd name="adj" fmla="val 13333"/>
            </a:avLst>
          </a:prstGeom>
          <a:solidFill>
            <a:srgbClr val="0D47A1"/>
          </a:solidFill>
          <a:ln/>
        </p:spPr>
      </p:sp>
      <p:sp>
        <p:nvSpPr>
          <p:cNvPr id="73" name="Text 71"/>
          <p:cNvSpPr/>
          <p:nvPr/>
        </p:nvSpPr>
        <p:spPr>
          <a:xfrm>
            <a:off x="2362200" y="2514600"/>
            <a:ext cx="195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处理模块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362200" y="2843784"/>
            <a:ext cx="1950720" cy="153162"/>
          </a:xfrm>
          <a:prstGeom prst="roundRect">
            <a:avLst>
              <a:gd name="adj" fmla="val 23881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362200" y="2862072"/>
            <a:ext cx="1950720" cy="7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文档解析器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2362200" y="2920365"/>
            <a:ext cx="1950720" cy="58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PDF/DOCX/XLSX/TXT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362200" y="3051810"/>
            <a:ext cx="1950720" cy="153162"/>
          </a:xfrm>
          <a:prstGeom prst="roundRect">
            <a:avLst>
              <a:gd name="adj" fmla="val 23881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362200" y="3070098"/>
            <a:ext cx="1950720" cy="7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检索执行器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2362200" y="3128391"/>
            <a:ext cx="1950720" cy="58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x 策略循环 · 去重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362200" y="3259836"/>
            <a:ext cx="1950720" cy="153162"/>
          </a:xfrm>
          <a:prstGeom prst="roundRect">
            <a:avLst>
              <a:gd name="adj" fmla="val 23881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362200" y="3278124"/>
            <a:ext cx="1950720" cy="7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报告生成器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2362200" y="3336417"/>
            <a:ext cx="1950720" cy="58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Top-N · 路径摘要 · HTML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362200" y="3467862"/>
            <a:ext cx="1950720" cy="153162"/>
          </a:xfrm>
          <a:prstGeom prst="roundRect">
            <a:avLst>
              <a:gd name="adj" fmla="val 23881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362200" y="3486150"/>
            <a:ext cx="1950720" cy="7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通知服务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2362200" y="3544443"/>
            <a:ext cx="1950720" cy="58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Realtime 推送完成事件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450080" y="2514600"/>
            <a:ext cx="1950720" cy="274320"/>
          </a:xfrm>
          <a:prstGeom prst="roundRect">
            <a:avLst>
              <a:gd name="adj" fmla="val 13333"/>
            </a:avLst>
          </a:prstGeom>
          <a:solidFill>
            <a:srgbClr val="0D47A1"/>
          </a:solidFill>
          <a:ln/>
        </p:spPr>
      </p:sp>
      <p:sp>
        <p:nvSpPr>
          <p:cNvPr id="87" name="Text 85"/>
          <p:cNvSpPr/>
          <p:nvPr/>
        </p:nvSpPr>
        <p:spPr>
          <a:xfrm>
            <a:off x="4450080" y="2514600"/>
            <a:ext cx="195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适配器工厂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4450080" y="2843784"/>
            <a:ext cx="19507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50080" y="2843784"/>
            <a:ext cx="195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AIAdapter (统一接口)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4450080" y="3145536"/>
            <a:ext cx="1950720" cy="86868"/>
          </a:xfrm>
          <a:prstGeom prst="roundRect">
            <a:avLst>
              <a:gd name="adj" fmla="val 42105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50080" y="3145536"/>
            <a:ext cx="195072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MetasoAdapter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450080" y="3259836"/>
            <a:ext cx="1950720" cy="86868"/>
          </a:xfrm>
          <a:prstGeom prst="roundRect">
            <a:avLst>
              <a:gd name="adj" fmla="val 42105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450080" y="3259836"/>
            <a:ext cx="195072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KimiAdapter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450080" y="3374136"/>
            <a:ext cx="1950720" cy="86868"/>
          </a:xfrm>
          <a:prstGeom prst="roundRect">
            <a:avLst>
              <a:gd name="adj" fmla="val 42105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450080" y="3374136"/>
            <a:ext cx="195072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ZhipuAdapter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450080" y="3488436"/>
            <a:ext cx="1950720" cy="86868"/>
          </a:xfrm>
          <a:prstGeom prst="roundRect">
            <a:avLst>
              <a:gd name="adj" fmla="val 42105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450080" y="3488436"/>
            <a:ext cx="195072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兼容适配器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274320" y="3767328"/>
            <a:ext cx="54864" cy="201168"/>
          </a:xfrm>
          <a:prstGeom prst="rect">
            <a:avLst>
              <a:gd name="adj" fmla="val 33333"/>
            </a:avLst>
          </a:prstGeom>
          <a:solidFill>
            <a:srgbClr val="1B5E20"/>
          </a:solidFill>
          <a:ln/>
        </p:spPr>
      </p:sp>
      <p:sp>
        <p:nvSpPr>
          <p:cNvPr id="99" name="Text 97"/>
          <p:cNvSpPr/>
          <p:nvPr/>
        </p:nvSpPr>
        <p:spPr>
          <a:xfrm>
            <a:off x="384048" y="3730752"/>
            <a:ext cx="601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数据与外部层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384048" y="4005072"/>
            <a:ext cx="6016752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74320" y="402336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274320" y="40507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Supabase 一体化服务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411480" y="4325112"/>
            <a:ext cx="3886200" cy="0"/>
          </a:xfrm>
          <a:prstGeom prst="line">
            <a:avLst/>
          </a:prstGeom>
          <a:noFill/>
          <a:ln w="6350">
            <a:solidFill>
              <a:srgbClr val="2E7D3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5760" y="4370832"/>
            <a:ext cx="1943100" cy="214884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65760" y="4389120"/>
            <a:ext cx="1943100" cy="9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365760" y="4467530"/>
            <a:ext cx="1943100" cy="107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张核心表 · RLS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2400300" y="4370832"/>
            <a:ext cx="1943100" cy="214884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400300" y="4389120"/>
            <a:ext cx="1943100" cy="9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 认证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2400300" y="4467530"/>
            <a:ext cx="1943100" cy="107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用户登录与身份管理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365760" y="4640580"/>
            <a:ext cx="1943100" cy="214884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65760" y="4658868"/>
            <a:ext cx="1943100" cy="9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 存储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365760" y="4737278"/>
            <a:ext cx="1943100" cy="107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专利文件落盘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2400300" y="4640580"/>
            <a:ext cx="1943100" cy="214884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400300" y="4658868"/>
            <a:ext cx="1943100" cy="9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Realtime 推送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2400300" y="4737278"/>
            <a:ext cx="1943100" cy="107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进度与完成事件订阅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4572000" y="402336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42424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17" name="Text 115"/>
          <p:cNvSpPr/>
          <p:nvPr/>
        </p:nvSpPr>
        <p:spPr>
          <a:xfrm>
            <a:off x="4572000" y="4041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 AI 服务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4709160" y="4261104"/>
            <a:ext cx="1554480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617720" y="42976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Metaso 秘塔专业搜索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4617720" y="44622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月之暗面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4617720" y="462686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智谱 GLM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4617720" y="479145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兼容接口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4617720" y="49560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(按模型配置动态选择)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3337560" y="3621024"/>
            <a:ext cx="4122" cy="109651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344430" y="3803775"/>
            <a:ext cx="4122" cy="109651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351301" y="3986526"/>
            <a:ext cx="4122" cy="109651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358171" y="4169277"/>
            <a:ext cx="4122" cy="109651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537960" y="640080"/>
            <a:ext cx="2331720" cy="4288536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9050">
            <a:solidFill>
              <a:srgbClr val="EF6C0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29" name="Shape 127"/>
          <p:cNvSpPr/>
          <p:nvPr/>
        </p:nvSpPr>
        <p:spPr>
          <a:xfrm>
            <a:off x="6537960" y="640080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E6510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537960" y="914400"/>
            <a:ext cx="2331720" cy="1371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31" name="Text 129"/>
          <p:cNvSpPr/>
          <p:nvPr/>
        </p:nvSpPr>
        <p:spPr>
          <a:xfrm>
            <a:off x="6537960" y="640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核心数据流 (7 步)</a:t>
            </a:r>
            <a:endParaRPr lang="en-US" sz="1300" dirty="0"/>
          </a:p>
        </p:txBody>
      </p:sp>
      <p:sp>
        <p:nvSpPr>
          <p:cNvPr id="132" name="Shape 130"/>
          <p:cNvSpPr/>
          <p:nvPr/>
        </p:nvSpPr>
        <p:spPr>
          <a:xfrm>
            <a:off x="6702552" y="1284732"/>
            <a:ext cx="329184" cy="329184"/>
          </a:xfrm>
          <a:prstGeom prst="ellipse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702552" y="12847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400" dirty="0"/>
          </a:p>
        </p:txBody>
      </p:sp>
      <p:sp>
        <p:nvSpPr>
          <p:cNvPr id="134" name="Text 132"/>
          <p:cNvSpPr/>
          <p:nvPr/>
        </p:nvSpPr>
        <p:spPr>
          <a:xfrm>
            <a:off x="7086600" y="1234440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用户上传专利文件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6720840" y="1691640"/>
            <a:ext cx="1965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702552" y="1805940"/>
            <a:ext cx="329184" cy="329184"/>
          </a:xfrm>
          <a:prstGeom prst="ellipse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702552" y="18059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400" dirty="0"/>
          </a:p>
        </p:txBody>
      </p:sp>
      <p:sp>
        <p:nvSpPr>
          <p:cNvPr id="138" name="Text 136"/>
          <p:cNvSpPr/>
          <p:nvPr/>
        </p:nvSpPr>
        <p:spPr>
          <a:xfrm>
            <a:off x="7086600" y="1755648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前端创建解析任务, 文件入队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6720840" y="2212848"/>
            <a:ext cx="1965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702552" y="2327148"/>
            <a:ext cx="329184" cy="329184"/>
          </a:xfrm>
          <a:prstGeom prst="ellipse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702552" y="23271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400" dirty="0"/>
          </a:p>
        </p:txBody>
      </p:sp>
      <p:sp>
        <p:nvSpPr>
          <p:cNvPr id="142" name="Text 140"/>
          <p:cNvSpPr/>
          <p:nvPr/>
        </p:nvSpPr>
        <p:spPr>
          <a:xfrm>
            <a:off x="7086600" y="2276856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解析文档, AI 抽取结构化字段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720840" y="2734056"/>
            <a:ext cx="1965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702552" y="2848356"/>
            <a:ext cx="329184" cy="329184"/>
          </a:xfrm>
          <a:prstGeom prst="ellipse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702552" y="28483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400" dirty="0"/>
          </a:p>
        </p:txBody>
      </p:sp>
      <p:sp>
        <p:nvSpPr>
          <p:cNvPr id="146" name="Text 144"/>
          <p:cNvSpPr/>
          <p:nvPr/>
        </p:nvSpPr>
        <p:spPr>
          <a:xfrm>
            <a:off x="7086600" y="2798064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前端配置检索任务 (模型 x 策略)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6720840" y="3255264"/>
            <a:ext cx="1965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702552" y="3369564"/>
            <a:ext cx="329184" cy="329184"/>
          </a:xfrm>
          <a:prstGeom prst="ellipse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702552" y="33695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400" dirty="0"/>
          </a:p>
        </p:txBody>
      </p:sp>
      <p:sp>
        <p:nvSpPr>
          <p:cNvPr id="150" name="Text 148"/>
          <p:cNvSpPr/>
          <p:nvPr/>
        </p:nvSpPr>
        <p:spPr>
          <a:xfrm>
            <a:off x="7086600" y="3319272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并行检索, 多 AI 适配器并发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6720840" y="3776472"/>
            <a:ext cx="1965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702552" y="3890772"/>
            <a:ext cx="329184" cy="329184"/>
          </a:xfrm>
          <a:prstGeom prst="ellipse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6702552" y="38907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400" dirty="0"/>
          </a:p>
        </p:txBody>
      </p:sp>
      <p:sp>
        <p:nvSpPr>
          <p:cNvPr id="154" name="Text 152"/>
          <p:cNvSpPr/>
          <p:nvPr/>
        </p:nvSpPr>
        <p:spPr>
          <a:xfrm>
            <a:off x="7086600" y="3840480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选 Top-N, 生成路径摘要与报告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720840" y="4297680"/>
            <a:ext cx="1965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702552" y="4411980"/>
            <a:ext cx="329184" cy="329184"/>
          </a:xfrm>
          <a:prstGeom prst="ellipse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6702552" y="44119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</a:t>
            </a:r>
            <a:endParaRPr lang="en-US" sz="1400" dirty="0"/>
          </a:p>
        </p:txBody>
      </p:sp>
      <p:sp>
        <p:nvSpPr>
          <p:cNvPr id="158" name="Text 156"/>
          <p:cNvSpPr/>
          <p:nvPr/>
        </p:nvSpPr>
        <p:spPr>
          <a:xfrm>
            <a:off x="7086600" y="4361688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Realtime 推送完成, 用户查看报告</a:t>
            </a:r>
            <a:endParaRPr lang="en-US" sz="900" dirty="0"/>
          </a:p>
        </p:txBody>
      </p:sp>
      <p:sp>
        <p:nvSpPr>
          <p:cNvPr id="159" name="Text 157"/>
          <p:cNvSpPr/>
          <p:nvPr/>
        </p:nvSpPr>
        <p:spPr>
          <a:xfrm>
            <a:off x="8686800" y="49377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Patent Search Agent System Architecture</dc:title>
  <dc:subject>PptxGenJS Presentation</dc:subject>
  <dc:creator>Patent Search System</dc:creator>
  <cp:lastModifiedBy>Patent Search System</cp:lastModifiedBy>
  <cp:revision>1</cp:revision>
  <dcterms:created xsi:type="dcterms:W3CDTF">2026-06-21T12:31:53Z</dcterms:created>
  <dcterms:modified xsi:type="dcterms:W3CDTF">2026-06-21T12:31:53Z</dcterms:modified>
</cp:coreProperties>
</file>