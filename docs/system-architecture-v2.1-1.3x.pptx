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887200" cy="668655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11887200" cy="0"/>
          </a:xfrm>
          <a:prstGeom prst="line">
            <a:avLst/>
          </a:prstGeom>
          <a:noFill/>
          <a:ln w="19050">
            <a:solidFill>
              <a:srgbClr val="0D47A1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" name="Text 2"/>
          <p:cNvSpPr/>
          <p:nvPr/>
        </p:nvSpPr>
        <p:spPr>
          <a:xfrm>
            <a:off x="356616" y="59436"/>
            <a:ext cx="5705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234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专利检索智能体系统架构图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03036" y="190195"/>
            <a:ext cx="166421" cy="166421"/>
          </a:xfrm>
          <a:prstGeom prst="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6" name="Text 4"/>
          <p:cNvSpPr/>
          <p:nvPr/>
        </p:nvSpPr>
        <p:spPr>
          <a:xfrm>
            <a:off x="6217006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954012" y="273406"/>
            <a:ext cx="118872" cy="0"/>
          </a:xfrm>
          <a:prstGeom prst="line">
            <a:avLst/>
          </a:prstGeom>
          <a:noFill/>
          <a:ln w="31750">
            <a:solidFill>
              <a:srgbClr val="EF6C0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8" name="Shape 6"/>
          <p:cNvSpPr/>
          <p:nvPr/>
        </p:nvSpPr>
        <p:spPr>
          <a:xfrm rot="5400000">
            <a:off x="7037222" y="219913"/>
            <a:ext cx="71323" cy="106985"/>
          </a:xfrm>
          <a:prstGeom prst="rtTriangle">
            <a:avLst/>
          </a:prstGeom>
          <a:solidFill>
            <a:srgbClr val="EF6C00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9" name="Text 7"/>
          <p:cNvSpPr/>
          <p:nvPr/>
        </p:nvSpPr>
        <p:spPr>
          <a:xfrm>
            <a:off x="7167982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04988" y="190195"/>
            <a:ext cx="166421" cy="166421"/>
          </a:xfrm>
          <a:prstGeom prst="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1" name="Text 9"/>
          <p:cNvSpPr/>
          <p:nvPr/>
        </p:nvSpPr>
        <p:spPr>
          <a:xfrm>
            <a:off x="8118958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存储服务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55964" y="190195"/>
            <a:ext cx="166421" cy="166421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57575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3" name="Text 11"/>
          <p:cNvSpPr/>
          <p:nvPr/>
        </p:nvSpPr>
        <p:spPr>
          <a:xfrm>
            <a:off x="9069934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806940" y="273406"/>
            <a:ext cx="41605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5" name="Shape 13"/>
          <p:cNvSpPr/>
          <p:nvPr/>
        </p:nvSpPr>
        <p:spPr>
          <a:xfrm>
            <a:off x="9860432" y="273406"/>
            <a:ext cx="41605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6" name="Shape 14"/>
          <p:cNvSpPr/>
          <p:nvPr/>
        </p:nvSpPr>
        <p:spPr>
          <a:xfrm>
            <a:off x="9913925" y="273406"/>
            <a:ext cx="41605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7" name="Text 15"/>
          <p:cNvSpPr/>
          <p:nvPr/>
        </p:nvSpPr>
        <p:spPr>
          <a:xfrm>
            <a:off x="10020910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实时订阅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757916" y="273406"/>
            <a:ext cx="166421" cy="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9" name="Text 17"/>
          <p:cNvSpPr/>
          <p:nvPr/>
        </p:nvSpPr>
        <p:spPr>
          <a:xfrm>
            <a:off x="10971886" y="118872"/>
            <a:ext cx="73700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辅助连线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6616" y="879653"/>
            <a:ext cx="71323" cy="26151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21" name="Text 19"/>
          <p:cNvSpPr/>
          <p:nvPr/>
        </p:nvSpPr>
        <p:spPr>
          <a:xfrm>
            <a:off x="499262" y="832104"/>
            <a:ext cx="7821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用户与表现层 · 用户 + Next.js 前端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9262" y="1188720"/>
            <a:ext cx="7821778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23" name="Shape 21"/>
          <p:cNvSpPr/>
          <p:nvPr/>
        </p:nvSpPr>
        <p:spPr>
          <a:xfrm>
            <a:off x="356616" y="1212494"/>
            <a:ext cx="1842516" cy="820217"/>
          </a:xfrm>
          <a:prstGeom prst="roundRect">
            <a:avLst>
              <a:gd name="adj" fmla="val 8696"/>
            </a:avLst>
          </a:prstGeom>
          <a:solidFill>
            <a:srgbClr val="FFE0B2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24" name="Shape 22"/>
          <p:cNvSpPr/>
          <p:nvPr/>
        </p:nvSpPr>
        <p:spPr>
          <a:xfrm>
            <a:off x="1147115" y="1260043"/>
            <a:ext cx="261518" cy="261518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25" name="Shape 23"/>
          <p:cNvSpPr/>
          <p:nvPr/>
        </p:nvSpPr>
        <p:spPr>
          <a:xfrm>
            <a:off x="1212494" y="1242212"/>
            <a:ext cx="130759" cy="154534"/>
          </a:xfrm>
          <a:prstGeom prst="ellipse">
            <a:avLst/>
          </a:prstGeom>
          <a:solidFill>
            <a:srgbClr val="FFE0B2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26" name="Shape 24"/>
          <p:cNvSpPr/>
          <p:nvPr/>
        </p:nvSpPr>
        <p:spPr>
          <a:xfrm>
            <a:off x="1087679" y="1497787"/>
            <a:ext cx="380390" cy="213970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27" name="Text 25"/>
          <p:cNvSpPr/>
          <p:nvPr/>
        </p:nvSpPr>
        <p:spPr>
          <a:xfrm>
            <a:off x="356616" y="1711757"/>
            <a:ext cx="1842516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" y="1913839"/>
            <a:ext cx="18425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78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上传专利 · 配置检索 · 查看报告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318004" y="1212494"/>
            <a:ext cx="1842516" cy="820217"/>
          </a:xfrm>
          <a:prstGeom prst="roundRect">
            <a:avLst>
              <a:gd name="adj" fmla="val 869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30" name="Text 28"/>
          <p:cNvSpPr/>
          <p:nvPr/>
        </p:nvSpPr>
        <p:spPr>
          <a:xfrm>
            <a:off x="2318004" y="1260043"/>
            <a:ext cx="1842516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步骤一 · 上传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96312" y="1592885"/>
            <a:ext cx="1485900" cy="0"/>
          </a:xfrm>
          <a:prstGeom prst="line">
            <a:avLst/>
          </a:prstGeom>
          <a:noFill/>
          <a:ln w="63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32" name="Text 30"/>
          <p:cNvSpPr/>
          <p:nvPr/>
        </p:nvSpPr>
        <p:spPr>
          <a:xfrm>
            <a:off x="2413102" y="1616659"/>
            <a:ext cx="1652321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选模型/策略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上传专利文件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79392" y="1212494"/>
            <a:ext cx="1842516" cy="820217"/>
          </a:xfrm>
          <a:prstGeom prst="roundRect">
            <a:avLst>
              <a:gd name="adj" fmla="val 8696"/>
            </a:avLst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34" name="Text 32"/>
          <p:cNvSpPr/>
          <p:nvPr/>
        </p:nvSpPr>
        <p:spPr>
          <a:xfrm>
            <a:off x="4279392" y="1260043"/>
            <a:ext cx="1842516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步骤二 · 配置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57700" y="1592885"/>
            <a:ext cx="1485900" cy="0"/>
          </a:xfrm>
          <a:prstGeom prst="line">
            <a:avLst/>
          </a:prstGeom>
          <a:noFill/>
          <a:ln w="63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36" name="Text 34"/>
          <p:cNvSpPr/>
          <p:nvPr/>
        </p:nvSpPr>
        <p:spPr>
          <a:xfrm>
            <a:off x="4374490" y="1616659"/>
            <a:ext cx="1652321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x 策略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报告模型选择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0780" y="1212494"/>
            <a:ext cx="1842516" cy="820217"/>
          </a:xfrm>
          <a:prstGeom prst="roundRect">
            <a:avLst>
              <a:gd name="adj" fmla="val 8696"/>
            </a:avLst>
          </a:prstGeom>
          <a:solidFill>
            <a:srgbClr val="FFE0B2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38" name="Text 36"/>
          <p:cNvSpPr/>
          <p:nvPr/>
        </p:nvSpPr>
        <p:spPr>
          <a:xfrm>
            <a:off x="6240780" y="1260043"/>
            <a:ext cx="1842516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 · 报告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19088" y="1592885"/>
            <a:ext cx="1485900" cy="0"/>
          </a:xfrm>
          <a:prstGeom prst="line">
            <a:avLst/>
          </a:prstGeom>
          <a:noFill/>
          <a:ln w="6350">
            <a:solidFill>
              <a:srgbClr val="EF6C0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0" name="Text 38"/>
          <p:cNvSpPr/>
          <p:nvPr/>
        </p:nvSpPr>
        <p:spPr>
          <a:xfrm>
            <a:off x="6335878" y="1616659"/>
            <a:ext cx="1652321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实时进度</a:t>
            </a:r>
            <a:endParaRPr lang="en-US" sz="900" dirty="0"/>
          </a:p>
          <a:p>
            <a:pPr algn="ctr" indent="0" marL="0">
              <a:spcAft>
                <a:spcPts val="200"/>
              </a:spcAft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报告查看与导出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6616" y="2222906"/>
            <a:ext cx="71323" cy="26151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42" name="Text 40"/>
          <p:cNvSpPr/>
          <p:nvPr/>
        </p:nvSpPr>
        <p:spPr>
          <a:xfrm>
            <a:off x="499262" y="2175358"/>
            <a:ext cx="7821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· API 路由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9262" y="2531974"/>
            <a:ext cx="7821778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4" name="Shape 42"/>
          <p:cNvSpPr/>
          <p:nvPr/>
        </p:nvSpPr>
        <p:spPr>
          <a:xfrm>
            <a:off x="356616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5" name="Text 43"/>
          <p:cNvSpPr/>
          <p:nvPr/>
        </p:nvSpPr>
        <p:spPr>
          <a:xfrm>
            <a:off x="356616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文档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04580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7" name="Text 45"/>
          <p:cNvSpPr/>
          <p:nvPr/>
        </p:nvSpPr>
        <p:spPr>
          <a:xfrm>
            <a:off x="1504580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任务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52543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49" name="Text 47"/>
          <p:cNvSpPr/>
          <p:nvPr/>
        </p:nvSpPr>
        <p:spPr>
          <a:xfrm>
            <a:off x="2652543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队列状态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00507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51" name="Text 49"/>
          <p:cNvSpPr/>
          <p:nvPr/>
        </p:nvSpPr>
        <p:spPr>
          <a:xfrm>
            <a:off x="3800507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心跳检测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48472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53" name="Text 51"/>
          <p:cNvSpPr/>
          <p:nvPr/>
        </p:nvSpPr>
        <p:spPr>
          <a:xfrm>
            <a:off x="4948472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模型配置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96436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55" name="Text 53"/>
          <p:cNvSpPr/>
          <p:nvPr/>
        </p:nvSpPr>
        <p:spPr>
          <a:xfrm>
            <a:off x="6096436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策略配置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44400" y="2555748"/>
            <a:ext cx="1076640" cy="1901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57" name="Text 55"/>
          <p:cNvSpPr/>
          <p:nvPr/>
        </p:nvSpPr>
        <p:spPr>
          <a:xfrm>
            <a:off x="7244400" y="2555748"/>
            <a:ext cx="107664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报告接口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6616" y="2936138"/>
            <a:ext cx="71323" cy="261518"/>
          </a:xfrm>
          <a:prstGeom prst="rect">
            <a:avLst>
              <a:gd name="adj" fmla="val 3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59" name="Text 57"/>
          <p:cNvSpPr/>
          <p:nvPr/>
        </p:nvSpPr>
        <p:spPr>
          <a:xfrm>
            <a:off x="499262" y="2888590"/>
            <a:ext cx="7821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43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 AI 层 · Worker 处理进程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99262" y="3245206"/>
            <a:ext cx="7821778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61" name="Shape 59"/>
          <p:cNvSpPr/>
          <p:nvPr/>
        </p:nvSpPr>
        <p:spPr>
          <a:xfrm>
            <a:off x="356616" y="3268980"/>
            <a:ext cx="2535936" cy="356616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62" name="Text 60"/>
          <p:cNvSpPr/>
          <p:nvPr/>
        </p:nvSpPr>
        <p:spPr>
          <a:xfrm>
            <a:off x="356616" y="3268980"/>
            <a:ext cx="2535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pg-boss 任务队列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56616" y="3696919"/>
            <a:ext cx="2535936" cy="289255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64" name="Text 62"/>
          <p:cNvSpPr/>
          <p:nvPr/>
        </p:nvSpPr>
        <p:spPr>
          <a:xfrm>
            <a:off x="356616" y="3720694"/>
            <a:ext cx="2535936" cy="144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parse-job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56616" y="3887267"/>
            <a:ext cx="2535936" cy="7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文档解析任务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56616" y="4057498"/>
            <a:ext cx="2535936" cy="289255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67" name="Text 65"/>
          <p:cNvSpPr/>
          <p:nvPr/>
        </p:nvSpPr>
        <p:spPr>
          <a:xfrm>
            <a:off x="356616" y="4081272"/>
            <a:ext cx="2535936" cy="144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search-job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56616" y="4247845"/>
            <a:ext cx="2535936" cy="7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检索任务 (笛卡尔积展开)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56616" y="4418076"/>
            <a:ext cx="2535936" cy="289255"/>
          </a:xfrm>
          <a:prstGeom prst="roundRect">
            <a:avLst>
              <a:gd name="adj" fmla="val 16438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70" name="Text 68"/>
          <p:cNvSpPr/>
          <p:nvPr/>
        </p:nvSpPr>
        <p:spPr>
          <a:xfrm>
            <a:off x="356616" y="4441850"/>
            <a:ext cx="2535936" cy="144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任务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56616" y="4608424"/>
            <a:ext cx="2535936" cy="75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报告生成任务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070860" y="3268980"/>
            <a:ext cx="2535936" cy="356616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73" name="Text 71"/>
          <p:cNvSpPr/>
          <p:nvPr/>
        </p:nvSpPr>
        <p:spPr>
          <a:xfrm>
            <a:off x="3070860" y="3268980"/>
            <a:ext cx="2535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处理模块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070860" y="3696919"/>
            <a:ext cx="2535936" cy="199111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75" name="Text 73"/>
          <p:cNvSpPr/>
          <p:nvPr/>
        </p:nvSpPr>
        <p:spPr>
          <a:xfrm>
            <a:off x="3070860" y="3766414"/>
            <a:ext cx="2535936" cy="5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文档解析器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070860" y="3842194"/>
            <a:ext cx="2535936" cy="3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PDF/DOCX/XLSX/TXT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070860" y="3967353"/>
            <a:ext cx="2535936" cy="199111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78" name="Text 76"/>
          <p:cNvSpPr/>
          <p:nvPr/>
        </p:nvSpPr>
        <p:spPr>
          <a:xfrm>
            <a:off x="3070860" y="4036847"/>
            <a:ext cx="2535936" cy="5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检索执行器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070860" y="4112628"/>
            <a:ext cx="2535936" cy="3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x 策略循环 · 去重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070860" y="4237787"/>
            <a:ext cx="2535936" cy="199111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81" name="Text 79"/>
          <p:cNvSpPr/>
          <p:nvPr/>
        </p:nvSpPr>
        <p:spPr>
          <a:xfrm>
            <a:off x="3070860" y="4307281"/>
            <a:ext cx="2535936" cy="5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报告生成器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070860" y="4383062"/>
            <a:ext cx="2535936" cy="3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Top-N · 路径摘要 · HTML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070860" y="4508221"/>
            <a:ext cx="2535936" cy="199111"/>
          </a:xfrm>
          <a:prstGeom prst="roundRect">
            <a:avLst>
              <a:gd name="adj" fmla="val 23881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84" name="Text 82"/>
          <p:cNvSpPr/>
          <p:nvPr/>
        </p:nvSpPr>
        <p:spPr>
          <a:xfrm>
            <a:off x="3070860" y="4577715"/>
            <a:ext cx="2535936" cy="53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通知服务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070860" y="4607776"/>
            <a:ext cx="2535936" cy="7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04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推送完成事件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785104" y="3268980"/>
            <a:ext cx="2535936" cy="356616"/>
          </a:xfrm>
          <a:prstGeom prst="roundRect">
            <a:avLst>
              <a:gd name="adj" fmla="val 13333"/>
            </a:avLst>
          </a:prstGeom>
          <a:solidFill>
            <a:srgbClr val="0D47A1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87" name="Text 85"/>
          <p:cNvSpPr/>
          <p:nvPr/>
        </p:nvSpPr>
        <p:spPr>
          <a:xfrm>
            <a:off x="5785104" y="3268980"/>
            <a:ext cx="2535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适配器工厂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785104" y="3696919"/>
            <a:ext cx="2535936" cy="356616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89" name="Text 87"/>
          <p:cNvSpPr/>
          <p:nvPr/>
        </p:nvSpPr>
        <p:spPr>
          <a:xfrm>
            <a:off x="5785104" y="3696919"/>
            <a:ext cx="2535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300" b="1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AIAdapter (统一接口)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785104" y="4089197"/>
            <a:ext cx="2535936" cy="11292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91" name="Text 89"/>
          <p:cNvSpPr/>
          <p:nvPr/>
        </p:nvSpPr>
        <p:spPr>
          <a:xfrm>
            <a:off x="5785104" y="4134917"/>
            <a:ext cx="2535936" cy="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MetasoAdapter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785104" y="4237787"/>
            <a:ext cx="2535936" cy="11292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93" name="Text 91"/>
          <p:cNvSpPr/>
          <p:nvPr/>
        </p:nvSpPr>
        <p:spPr>
          <a:xfrm>
            <a:off x="5785104" y="4283507"/>
            <a:ext cx="2535936" cy="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KimiAdapter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785104" y="4386377"/>
            <a:ext cx="2535936" cy="11292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95" name="Text 93"/>
          <p:cNvSpPr/>
          <p:nvPr/>
        </p:nvSpPr>
        <p:spPr>
          <a:xfrm>
            <a:off x="5785104" y="4432097"/>
            <a:ext cx="2535936" cy="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ZhipuAdapter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785104" y="4534967"/>
            <a:ext cx="2535936" cy="112928"/>
          </a:xfrm>
          <a:prstGeom prst="roundRect">
            <a:avLst>
              <a:gd name="adj" fmla="val 4210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97" name="Text 95"/>
          <p:cNvSpPr/>
          <p:nvPr/>
        </p:nvSpPr>
        <p:spPr>
          <a:xfrm>
            <a:off x="5785104" y="4580687"/>
            <a:ext cx="2535936" cy="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0D4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兼容适配器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56616" y="4897526"/>
            <a:ext cx="71323" cy="261518"/>
          </a:xfrm>
          <a:prstGeom prst="rect">
            <a:avLst>
              <a:gd name="adj" fmla="val 33333"/>
            </a:avLst>
          </a:prstGeom>
          <a:solidFill>
            <a:srgbClr val="1B5E20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99" name="Text 97"/>
          <p:cNvSpPr/>
          <p:nvPr/>
        </p:nvSpPr>
        <p:spPr>
          <a:xfrm>
            <a:off x="499262" y="4849978"/>
            <a:ext cx="782177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43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数据与外部层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99262" y="5206594"/>
            <a:ext cx="7821778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01" name="Shape 99"/>
          <p:cNvSpPr/>
          <p:nvPr/>
        </p:nvSpPr>
        <p:spPr>
          <a:xfrm>
            <a:off x="356616" y="5230368"/>
            <a:ext cx="5408676" cy="1129284"/>
          </a:xfrm>
          <a:prstGeom prst="roundRect">
            <a:avLst>
              <a:gd name="adj" fmla="val 6316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102" name="Text 100"/>
          <p:cNvSpPr/>
          <p:nvPr/>
        </p:nvSpPr>
        <p:spPr>
          <a:xfrm>
            <a:off x="356616" y="5266030"/>
            <a:ext cx="5408676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56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一体化服务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534924" y="5622646"/>
            <a:ext cx="5052060" cy="0"/>
          </a:xfrm>
          <a:prstGeom prst="line">
            <a:avLst/>
          </a:prstGeom>
          <a:noFill/>
          <a:ln w="635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04" name="Shape 102"/>
          <p:cNvSpPr/>
          <p:nvPr/>
        </p:nvSpPr>
        <p:spPr>
          <a:xfrm>
            <a:off x="475488" y="5682082"/>
            <a:ext cx="2526030" cy="279349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05" name="Text 103"/>
          <p:cNvSpPr/>
          <p:nvPr/>
        </p:nvSpPr>
        <p:spPr>
          <a:xfrm>
            <a:off x="475488" y="5705856"/>
            <a:ext cx="2526030" cy="12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75488" y="5807789"/>
            <a:ext cx="2526030" cy="13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91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张核心表 · RLS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120390" y="5682082"/>
            <a:ext cx="2526030" cy="279349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08" name="Text 106"/>
          <p:cNvSpPr/>
          <p:nvPr/>
        </p:nvSpPr>
        <p:spPr>
          <a:xfrm>
            <a:off x="3120390" y="5705856"/>
            <a:ext cx="2526030" cy="12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认证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120390" y="5807789"/>
            <a:ext cx="2526030" cy="13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91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用户登录与身份管理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75488" y="6032754"/>
            <a:ext cx="2526030" cy="279349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11" name="Text 109"/>
          <p:cNvSpPr/>
          <p:nvPr/>
        </p:nvSpPr>
        <p:spPr>
          <a:xfrm>
            <a:off x="475488" y="6056528"/>
            <a:ext cx="2526030" cy="12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存储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475488" y="6158461"/>
            <a:ext cx="2526030" cy="13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91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专利文件落盘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3120390" y="6032754"/>
            <a:ext cx="2526030" cy="279349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14" name="Text 112"/>
          <p:cNvSpPr/>
          <p:nvPr/>
        </p:nvSpPr>
        <p:spPr>
          <a:xfrm>
            <a:off x="3120390" y="6056528"/>
            <a:ext cx="2526030" cy="125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3120390" y="6158461"/>
            <a:ext cx="2526030" cy="13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91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进度与完成事件订阅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5943600" y="5230368"/>
            <a:ext cx="2377440" cy="112928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42424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117" name="Text 115"/>
          <p:cNvSpPr/>
          <p:nvPr/>
        </p:nvSpPr>
        <p:spPr>
          <a:xfrm>
            <a:off x="5943600" y="5254142"/>
            <a:ext cx="237744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430" b="1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AI 服务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6121908" y="5539435"/>
            <a:ext cx="2020824" cy="0"/>
          </a:xfrm>
          <a:prstGeom prst="line">
            <a:avLst/>
          </a:prstGeom>
          <a:noFill/>
          <a:ln w="6350">
            <a:solidFill>
              <a:srgbClr val="BDBDBD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19" name="Text 117"/>
          <p:cNvSpPr/>
          <p:nvPr/>
        </p:nvSpPr>
        <p:spPr>
          <a:xfrm>
            <a:off x="6003036" y="5586984"/>
            <a:ext cx="225856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Metaso 秘塔专业搜索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6003036" y="5800954"/>
            <a:ext cx="225856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月之暗面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003036" y="6014923"/>
            <a:ext cx="225856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003036" y="6228893"/>
            <a:ext cx="225856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兼容接口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6003036" y="6442862"/>
            <a:ext cx="225856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910" i="1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(按模型配置动态选择)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4338828" y="4707331"/>
            <a:ext cx="5359" cy="14254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25" name="Shape 123"/>
          <p:cNvSpPr/>
          <p:nvPr/>
        </p:nvSpPr>
        <p:spPr>
          <a:xfrm>
            <a:off x="4347759" y="4944908"/>
            <a:ext cx="5359" cy="14254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26" name="Shape 124"/>
          <p:cNvSpPr/>
          <p:nvPr/>
        </p:nvSpPr>
        <p:spPr>
          <a:xfrm>
            <a:off x="4356691" y="5182484"/>
            <a:ext cx="5359" cy="14254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27" name="Shape 125"/>
          <p:cNvSpPr/>
          <p:nvPr/>
        </p:nvSpPr>
        <p:spPr>
          <a:xfrm>
            <a:off x="4365622" y="5420060"/>
            <a:ext cx="5359" cy="142546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28" name="Shape 126"/>
          <p:cNvSpPr/>
          <p:nvPr/>
        </p:nvSpPr>
        <p:spPr>
          <a:xfrm>
            <a:off x="8499348" y="832104"/>
            <a:ext cx="3031236" cy="5575097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EF6C0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  <p:txBody>
          <a:bodyPr/>
          <a:p>
            <a:pPr>
              <a:defRPr/>
            </a:pPr>
          </a:p>
        </p:txBody>
      </p:sp>
      <p:sp>
        <p:nvSpPr>
          <p:cNvPr id="129" name="Shape 127"/>
          <p:cNvSpPr/>
          <p:nvPr/>
        </p:nvSpPr>
        <p:spPr>
          <a:xfrm>
            <a:off x="8499348" y="832104"/>
            <a:ext cx="3031236" cy="534924"/>
          </a:xfrm>
          <a:prstGeom prst="roundRect">
            <a:avLst>
              <a:gd name="adj" fmla="val 17778"/>
            </a:avLst>
          </a:prstGeom>
          <a:solidFill>
            <a:srgbClr val="E65100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130" name="Shape 128"/>
          <p:cNvSpPr/>
          <p:nvPr/>
        </p:nvSpPr>
        <p:spPr>
          <a:xfrm>
            <a:off x="8499348" y="1188720"/>
            <a:ext cx="3031236" cy="1783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>
            <a:pPr>
              <a:defRPr/>
            </a:pPr>
          </a:p>
        </p:txBody>
      </p:sp>
      <p:sp>
        <p:nvSpPr>
          <p:cNvPr id="131" name="Text 129"/>
          <p:cNvSpPr/>
          <p:nvPr/>
        </p:nvSpPr>
        <p:spPr>
          <a:xfrm>
            <a:off x="8499348" y="832104"/>
            <a:ext cx="30312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689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核心数据流 (7 步)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713318" y="1670152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33" name="Text 131"/>
          <p:cNvSpPr/>
          <p:nvPr/>
        </p:nvSpPr>
        <p:spPr>
          <a:xfrm>
            <a:off x="8713318" y="1670152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34" name="Text 132"/>
          <p:cNvSpPr/>
          <p:nvPr/>
        </p:nvSpPr>
        <p:spPr>
          <a:xfrm>
            <a:off x="9212580" y="1604772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用户上传专利文件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8737092" y="2199132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36" name="Shape 134"/>
          <p:cNvSpPr/>
          <p:nvPr/>
        </p:nvSpPr>
        <p:spPr>
          <a:xfrm>
            <a:off x="8713318" y="2347722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37" name="Text 135"/>
          <p:cNvSpPr/>
          <p:nvPr/>
        </p:nvSpPr>
        <p:spPr>
          <a:xfrm>
            <a:off x="8713318" y="2347722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9212580" y="2282342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前端创建解析任务, 文件入队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8737092" y="2876702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0" name="Shape 138"/>
          <p:cNvSpPr/>
          <p:nvPr/>
        </p:nvSpPr>
        <p:spPr>
          <a:xfrm>
            <a:off x="8713318" y="3025292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1" name="Text 139"/>
          <p:cNvSpPr/>
          <p:nvPr/>
        </p:nvSpPr>
        <p:spPr>
          <a:xfrm>
            <a:off x="8713318" y="3025292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9212580" y="2959913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解析文档, AI 抽取结构化字段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8737092" y="3554273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4" name="Shape 142"/>
          <p:cNvSpPr/>
          <p:nvPr/>
        </p:nvSpPr>
        <p:spPr>
          <a:xfrm>
            <a:off x="8713318" y="3702863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5" name="Text 143"/>
          <p:cNvSpPr/>
          <p:nvPr/>
        </p:nvSpPr>
        <p:spPr>
          <a:xfrm>
            <a:off x="8713318" y="3702863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146" name="Text 144"/>
          <p:cNvSpPr/>
          <p:nvPr/>
        </p:nvSpPr>
        <p:spPr>
          <a:xfrm>
            <a:off x="9212580" y="3637483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前端配置检索任务 (模型 x 策略)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8737092" y="4231843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8" name="Shape 146"/>
          <p:cNvSpPr/>
          <p:nvPr/>
        </p:nvSpPr>
        <p:spPr>
          <a:xfrm>
            <a:off x="8713318" y="4380433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49" name="Text 147"/>
          <p:cNvSpPr/>
          <p:nvPr/>
        </p:nvSpPr>
        <p:spPr>
          <a:xfrm>
            <a:off x="8713318" y="4380433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400" dirty="0"/>
          </a:p>
        </p:txBody>
      </p:sp>
      <p:sp>
        <p:nvSpPr>
          <p:cNvPr id="150" name="Text 148"/>
          <p:cNvSpPr/>
          <p:nvPr/>
        </p:nvSpPr>
        <p:spPr>
          <a:xfrm>
            <a:off x="9212580" y="4315054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并行检索, 多 AI 适配器并发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737092" y="4909414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52" name="Shape 150"/>
          <p:cNvSpPr/>
          <p:nvPr/>
        </p:nvSpPr>
        <p:spPr>
          <a:xfrm>
            <a:off x="8713318" y="5058004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53" name="Text 151"/>
          <p:cNvSpPr/>
          <p:nvPr/>
        </p:nvSpPr>
        <p:spPr>
          <a:xfrm>
            <a:off x="8713318" y="5058004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400" dirty="0"/>
          </a:p>
        </p:txBody>
      </p:sp>
      <p:sp>
        <p:nvSpPr>
          <p:cNvPr id="154" name="Text 152"/>
          <p:cNvSpPr/>
          <p:nvPr/>
        </p:nvSpPr>
        <p:spPr>
          <a:xfrm>
            <a:off x="9212580" y="4992624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选 Top-N, 生成路径摘要与报告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8737092" y="5586984"/>
            <a:ext cx="2555748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56" name="Shape 154"/>
          <p:cNvSpPr/>
          <p:nvPr/>
        </p:nvSpPr>
        <p:spPr>
          <a:xfrm>
            <a:off x="8713318" y="5735574"/>
            <a:ext cx="427939" cy="427939"/>
          </a:xfrm>
          <a:prstGeom prst="ellipse">
            <a:avLst/>
          </a:prstGeom>
          <a:solidFill>
            <a:srgbClr val="EF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>
            <a:pPr>
              <a:defRPr/>
            </a:pPr>
          </a:p>
        </p:txBody>
      </p:sp>
      <p:sp>
        <p:nvSpPr>
          <p:cNvPr id="157" name="Text 155"/>
          <p:cNvSpPr/>
          <p:nvPr/>
        </p:nvSpPr>
        <p:spPr>
          <a:xfrm>
            <a:off x="8713318" y="5735574"/>
            <a:ext cx="4279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400" dirty="0"/>
          </a:p>
        </p:txBody>
      </p:sp>
      <p:sp>
        <p:nvSpPr>
          <p:cNvPr id="158" name="Text 156"/>
          <p:cNvSpPr/>
          <p:nvPr/>
        </p:nvSpPr>
        <p:spPr>
          <a:xfrm>
            <a:off x="9212580" y="5670194"/>
            <a:ext cx="21991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/>
            </a:pPr>
            <a:r>
              <a:rPr lang="en-US" sz="117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Realtime 推送完成, 用户查看报告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1292840" y="6419088"/>
            <a:ext cx="356616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/>
            </a:pPr>
            <a:r>
              <a:rPr lang="en-US" sz="104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 Search Agent System Architecture</dc:title>
  <dc:subject>PptxGenJS Presentation</dc:subject>
  <dc:creator>Patent Search System</dc:creator>
  <cp:lastModifiedBy>Patent Search System</cp:lastModifiedBy>
  <cp:revision>1</cp:revision>
  <dcterms:created xsi:type="dcterms:W3CDTF">2026-06-21T12:31:53Z</dcterms:created>
  <dcterms:modified xsi:type="dcterms:W3CDTF">2026-06-21T12:31:53Z</dcterms:modified>
</cp:coreProperties>
</file>